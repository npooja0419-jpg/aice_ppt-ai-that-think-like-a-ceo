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8" r:id="rId2"/>
    <p:sldId id="257" r:id="rId3"/>
    <p:sldId id="280" r:id="rId4"/>
    <p:sldId id="259" r:id="rId5"/>
    <p:sldId id="260" r:id="rId6"/>
    <p:sldId id="261" r:id="rId7"/>
    <p:sldId id="281" r:id="rId8"/>
    <p:sldId id="262" r:id="rId9"/>
    <p:sldId id="263" r:id="rId10"/>
    <p:sldId id="264" r:id="rId11"/>
    <p:sldId id="265" r:id="rId12"/>
    <p:sldId id="266" r:id="rId13"/>
  </p:sldIdLst>
  <p:sldSz cx="9144000" cy="5143500" type="screen16x9"/>
  <p:notesSz cx="5143500" cy="9144000"/>
  <p:custDataLst>
    <p:tags r:id="rId15"/>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10"/>
  </p:normalViewPr>
  <p:slideViewPr>
    <p:cSldViewPr snapToGrid="0" snapToObjects="1">
      <p:cViewPr varScale="1">
        <p:scale>
          <a:sx n="106" d="100"/>
          <a:sy n="106" d="100"/>
        </p:scale>
        <p:origin x="62" y="72"/>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77E44-CA9E-6E9D-E8E7-0CF4B4F87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DA6EB-554D-5FD9-7A14-FEE5916025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BDE88D-5689-1440-AB31-9BACB0DE74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19D196-FF42-9660-C7BD-C1D1801C8A8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498278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27" name="TextBox 26">
            <a:extLst>
              <a:ext uri="{FF2B5EF4-FFF2-40B4-BE49-F238E27FC236}">
                <a16:creationId xmlns:a16="http://schemas.microsoft.com/office/drawing/2014/main" id="{A5A910E7-4D18-336C-E98E-FB68843D54AE}"/>
              </a:ext>
            </a:extLst>
          </p:cNvPr>
          <p:cNvSpPr txBox="1"/>
          <p:nvPr/>
        </p:nvSpPr>
        <p:spPr>
          <a:xfrm>
            <a:off x="283376" y="3349510"/>
            <a:ext cx="3869992" cy="697627"/>
          </a:xfrm>
          <a:prstGeom prst="rect">
            <a:avLst/>
          </a:prstGeom>
          <a:noFill/>
        </p:spPr>
        <p:txBody>
          <a:bodyPr wrap="square">
            <a:spAutoFit/>
          </a:bodyPr>
          <a:lstStyle/>
          <a:p>
            <a:pPr algn="ctr">
              <a:spcBef>
                <a:spcPts val="400"/>
              </a:spcBef>
              <a:spcAft>
                <a:spcPts val="400"/>
              </a:spcAft>
              <a:buNone/>
            </a:pPr>
            <a:r>
              <a:rPr lang="en-IN" sz="1800" b="1" dirty="0">
                <a:solidFill>
                  <a:srgbClr val="1B3A8A"/>
                </a:solidFill>
                <a:effectLst/>
                <a:latin typeface="Arial" panose="020B0604020202020204" pitchFamily="34" charset="0"/>
                <a:ea typeface="Arial" panose="020B0604020202020204" pitchFamily="34" charset="0"/>
              </a:rPr>
              <a:t>AI That Thinks Like a CEO: The </a:t>
            </a:r>
            <a:endParaRPr lang="en-IN" sz="1050" dirty="0">
              <a:effectLst/>
              <a:latin typeface="Arial" panose="020B0604020202020204" pitchFamily="34" charset="0"/>
              <a:ea typeface="Arial" panose="020B0604020202020204" pitchFamily="34" charset="0"/>
            </a:endParaRPr>
          </a:p>
          <a:p>
            <a:pPr>
              <a:buNone/>
            </a:pPr>
            <a:r>
              <a:rPr lang="en-IN" sz="1800" b="1" dirty="0">
                <a:solidFill>
                  <a:srgbClr val="1B3A8A"/>
                </a:solidFill>
                <a:effectLst/>
                <a:latin typeface="Arial" panose="020B0604020202020204" pitchFamily="34" charset="0"/>
                <a:ea typeface="Arial" panose="020B0604020202020204" pitchFamily="34" charset="0"/>
              </a:rPr>
              <a:t>  Future of Intelligent Enterprises</a:t>
            </a:r>
            <a:endParaRPr lang="en-IN" dirty="0"/>
          </a:p>
        </p:txBody>
      </p:sp>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6903799" y="-57369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1719" y="2737843"/>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2616467" y="4239362"/>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2643463" y="4396678"/>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N.POOJA</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2102286" y="4268197"/>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4304562" y="4291690"/>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4287853" y="4404250"/>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leelalal050@gmail.com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3770443" y="4278592"/>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481587" y="4225891"/>
            <a:ext cx="2272871" cy="431318"/>
            <a:chOff x="3049001" y="4366700"/>
            <a:chExt cx="2272871" cy="431318"/>
          </a:xfrm>
        </p:grpSpPr>
        <p:sp>
          <p:nvSpPr>
            <p:cNvPr id="67" name="TextBox 41">
              <a:extLst>
                <a:ext uri="{FF2B5EF4-FFF2-40B4-BE49-F238E27FC236}">
                  <a16:creationId xmlns:a16="http://schemas.microsoft.com/office/drawing/2014/main" id="{5FE6F280-D970-382B-5260-25E219F86722}"/>
                </a:ext>
              </a:extLst>
            </p:cNvPr>
            <p:cNvSpPr txBox="1"/>
            <p:nvPr/>
          </p:nvSpPr>
          <p:spPr>
            <a:xfrm>
              <a:off x="3056972" y="4366700"/>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049001" y="4570583"/>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 MAHESWARI</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59010" y="4261827"/>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6709" y="931894"/>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mc:AlternateContent xmlns:mc="http://schemas.openxmlformats.org/markup-compatibility/2006" xmlns:p14="http://schemas.microsoft.com/office/powerpoint/2010/main">
    <mc:Choice Requires="p14">
      <p:transition spd="slow" p14:dur="2000" advTm="3550"/>
    </mc:Choice>
    <mc:Fallback xmlns="">
      <p:transition spd="slow" advTm="355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65"/>
    </mc:Choice>
    <mc:Fallback xmlns="">
      <p:transition spd="slow" advTm="376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F9967-FA60-9866-F769-CE0B31E4EB74}"/>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BFDD8F1-EF69-286A-F24F-964A2BA4E70A}"/>
              </a:ext>
            </a:extLst>
          </p:cNvPr>
          <p:cNvSpPr/>
          <p:nvPr/>
        </p:nvSpPr>
        <p:spPr>
          <a:xfrm>
            <a:off x="147113" y="445742"/>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2" name="Freeform 28">
            <a:extLst>
              <a:ext uri="{FF2B5EF4-FFF2-40B4-BE49-F238E27FC236}">
                <a16:creationId xmlns:a16="http://schemas.microsoft.com/office/drawing/2014/main" id="{B491EFB2-BA41-77AE-6740-4299A4ED0287}"/>
              </a:ext>
            </a:extLst>
          </p:cNvPr>
          <p:cNvSpPr/>
          <p:nvPr/>
        </p:nvSpPr>
        <p:spPr>
          <a:xfrm>
            <a:off x="6208366" y="1072812"/>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r>
              <a:rPr lang="en-US" dirty="0"/>
              <a:t>+</a:t>
            </a:r>
          </a:p>
        </p:txBody>
      </p:sp>
      <p:sp>
        <p:nvSpPr>
          <p:cNvPr id="5" name="TextBox 4">
            <a:extLst>
              <a:ext uri="{FF2B5EF4-FFF2-40B4-BE49-F238E27FC236}">
                <a16:creationId xmlns:a16="http://schemas.microsoft.com/office/drawing/2014/main" id="{B62361B2-D5E0-9CF6-FAA8-AD7408525DB3}"/>
              </a:ext>
            </a:extLst>
          </p:cNvPr>
          <p:cNvSpPr txBox="1"/>
          <p:nvPr/>
        </p:nvSpPr>
        <p:spPr>
          <a:xfrm>
            <a:off x="77947" y="829994"/>
            <a:ext cx="6210312" cy="4001095"/>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This project ,addresses real-world business challenges such as declining sales, inefficient operations, and delayed decision-making by using AI to replicate strategic thinking at the executive level. </a:t>
            </a:r>
          </a:p>
          <a:p>
            <a:pPr marL="285750" indent="-285750" algn="just">
              <a:spcBef>
                <a:spcPts val="600"/>
              </a:spcBef>
              <a:spcAft>
                <a:spcPts val="600"/>
              </a:spcAf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objective is to leverage AI to analyze large volumes of business data, identify patterns, predict future trends, and automate key decisions so companies can respond quickly to market changes and improve overall performance. For example, in a retail business facing unpredictable customer demand, AI can forecast sales, optimize inventory, and recommend pricing strategies. </a:t>
            </a:r>
          </a:p>
          <a:p>
            <a:pPr marL="285750" indent="-285750" algn="just">
              <a:spcBef>
                <a:spcPts val="600"/>
              </a:spcBef>
              <a:spcAft>
                <a:spcPts val="600"/>
              </a:spcAf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To build this solution, tools like Microsoft Excel are used for cleaning and organizing raw data, Power BI for creating interactive dashboards that visualize key metrics, ChatGPT for generating insights and strategic recommendations, and GitHub for automating analysis and improving efficiency. </a:t>
            </a:r>
          </a:p>
          <a:p>
            <a:pPr marL="285750" indent="-285750" algn="just">
              <a:spcBef>
                <a:spcPts val="600"/>
              </a:spcBef>
              <a:spcAft>
                <a:spcPts val="600"/>
              </a:spcAf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outcome is a structured dataset, clear visual reports, and actionable insights that enable faster, data-driven decision-making, ultimately helping businesses operate more intelligently and competitively in real-world scenarios.</a:t>
            </a:r>
            <a:endParaRPr lang="en-IN" sz="14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239738994"/>
      </p:ext>
    </p:extLst>
  </p:cSld>
  <p:clrMapOvr>
    <a:masterClrMapping/>
  </p:clrMapOvr>
  <mc:AlternateContent xmlns:mc="http://schemas.openxmlformats.org/markup-compatibility/2006" xmlns:p14="http://schemas.microsoft.com/office/powerpoint/2010/main">
    <mc:Choice Requires="p14">
      <p:transition spd="slow" p14:dur="2000" advTm="2868"/>
    </mc:Choice>
    <mc:Fallback xmlns="">
      <p:transition spd="slow" advTm="286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6064481" y="1312672"/>
            <a:ext cx="2727569" cy="2727569"/>
          </a:xfrm>
          <a:prstGeom prst="rect">
            <a:avLst/>
          </a:prstGeom>
        </p:spPr>
      </p:pic>
      <p:sp>
        <p:nvSpPr>
          <p:cNvPr id="4" name="Text 2"/>
          <p:cNvSpPr/>
          <p:nvPr/>
        </p:nvSpPr>
        <p:spPr>
          <a:xfrm>
            <a:off x="111663" y="43484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B552EC2C-9DA7-2091-FF1D-5DDB752488AE}"/>
              </a:ext>
            </a:extLst>
          </p:cNvPr>
          <p:cNvSpPr txBox="1"/>
          <p:nvPr/>
        </p:nvSpPr>
        <p:spPr>
          <a:xfrm>
            <a:off x="111663" y="873760"/>
            <a:ext cx="6394645" cy="4093428"/>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Many small and medium-sized businesses struggle to make the right decisions at the right time because they depend on guesswork instead of data. For example, a local retail store may not know which products sell the most, when customers usually buy, or how to set the right price, leading to unsold stock, low profits, and missed opportunities. </a:t>
            </a:r>
          </a:p>
          <a:p>
            <a:pPr marL="285750" indent="-285750" algn="just">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Since the data is often scattered and not properly analyzed, business owners find it difficult to plan ahead or respond quickly to changes in customer demand. </a:t>
            </a:r>
          </a:p>
          <a:p>
            <a:pPr marL="285750" indent="-285750" algn="just">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creates a need for an intelligent system like </a:t>
            </a:r>
            <a:r>
              <a:rPr lang="en-US" sz="1600" b="1" dirty="0">
                <a:latin typeface="Times New Roman" panose="02020603050405020304" pitchFamily="18" charset="0"/>
                <a:cs typeface="Times New Roman" panose="02020603050405020304" pitchFamily="18" charset="0"/>
              </a:rPr>
              <a:t>“AI That Thinks Like a CEO – The Future of Intelligent Enterprises”</a:t>
            </a:r>
            <a:r>
              <a:rPr lang="en-US" sz="1600" dirty="0">
                <a:latin typeface="Times New Roman" panose="02020603050405020304" pitchFamily="18" charset="0"/>
                <a:cs typeface="Times New Roman" panose="02020603050405020304" pitchFamily="18" charset="0"/>
              </a:rPr>
              <a:t>, which can analyze business data, identify patterns, and give simple, clear suggestions for better decisions. By using tools such as Microsoft Excel, Power BI, ChatGPT, and GitHub Copilot, businesses can understand their data easily, make smarter choices, and improve their overall performance in a real-world scenario.</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56"/>
    </mc:Choice>
    <mc:Fallback xmlns="">
      <p:transition spd="slow" advTm="315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rcRect l="16901" t="15949" r="3344" b="14831"/>
          <a:stretch>
            <a:fillRect/>
          </a:stretch>
        </p:blipFill>
        <p:spPr>
          <a:xfrm>
            <a:off x="5964702" y="1663037"/>
            <a:ext cx="3179298" cy="2451764"/>
          </a:xfrm>
          <a:prstGeom prst="rect">
            <a:avLst/>
          </a:prstGeom>
        </p:spPr>
      </p:pic>
      <p:sp>
        <p:nvSpPr>
          <p:cNvPr id="4" name="Text 2"/>
          <p:cNvSpPr/>
          <p:nvPr/>
        </p:nvSpPr>
        <p:spPr>
          <a:xfrm>
            <a:off x="58664" y="506076"/>
            <a:ext cx="8363243"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58664" y="944988"/>
            <a:ext cx="6419508" cy="3474720"/>
          </a:xfrm>
          <a:prstGeom prst="rect">
            <a:avLst/>
          </a:prstGeom>
          <a:noFill/>
          <a:ln/>
        </p:spPr>
        <p:txBody>
          <a:bodyPr wrap="square" rtlCol="0" anchor="t"/>
          <a:lstStyle/>
          <a:p>
            <a:pPr marL="285750" indent="-285750" algn="just">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address these business challenges, the proposed solution is to develop an intelligent system ,which uses data to support smart and timely decision-making. The system will collect and organize business data such as sales, customer behavior, and inventory using Microsoft Excel, and then transform this data into easy-to-understand visual dashboards through Power BI. </a:t>
            </a:r>
          </a:p>
          <a:p>
            <a:pPr marL="285750" indent="-285750" algn="just">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 tools like ChatGPT will analyze the data to identify patterns, predict future trends, and provide simple recommendations such as which products to restock, when to offer discounts, or how to improve sales. Additionally, GitHub Copilot can be used to automate repetitive tasks and improve efficiency in data processing. </a:t>
            </a:r>
          </a:p>
          <a:p>
            <a:pPr marL="285750" indent="-285750" algn="just">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solution helps business owners make faster, smarter, and data-driven decisions without needing deep technical knowledge, ultimately improving profitability, reducing losses, and enabling the business to operate more intelligently in real-world situations.</a:t>
            </a:r>
          </a:p>
          <a:p>
            <a:br>
              <a:rPr lang="en-US" dirty="0"/>
            </a:br>
            <a:endParaRPr lang="en-US" dirty="0"/>
          </a:p>
          <a:p>
            <a:endParaRPr lang="en-US" b="1" dirty="0"/>
          </a:p>
          <a:p>
            <a:pPr marL="0" indent="0">
              <a:buNone/>
            </a:pPr>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999"/>
    </mc:Choice>
    <mc:Fallback xmlns="">
      <p:transition spd="slow" advTm="199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2528" y="428372"/>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125730" y="1107212"/>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3917086" y="1104258"/>
            <a:ext cx="320040" cy="384048"/>
          </a:xfrm>
          <a:prstGeom prst="rect">
            <a:avLst/>
          </a:prstGeom>
          <a:solidFill>
            <a:srgbClr val="1B3A8A"/>
          </a:solidFill>
          <a:ln/>
        </p:spPr>
        <p:txBody>
          <a:bodyPr/>
          <a:lstStyle/>
          <a:p>
            <a:endParaRPr lang="en-IN" dirty="0">
              <a:latin typeface="Lato" panose="020F0502020204030203" pitchFamily="34" charset="0"/>
            </a:endParaRPr>
          </a:p>
        </p:txBody>
      </p:sp>
      <p:sp>
        <p:nvSpPr>
          <p:cNvPr id="8" name="Text 6"/>
          <p:cNvSpPr/>
          <p:nvPr/>
        </p:nvSpPr>
        <p:spPr>
          <a:xfrm>
            <a:off x="219830" y="1137913"/>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385019" y="1101337"/>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179779" y="1109333"/>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625746" y="1139720"/>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6" name="Text 14"/>
          <p:cNvSpPr/>
          <p:nvPr/>
        </p:nvSpPr>
        <p:spPr>
          <a:xfrm>
            <a:off x="-107942" y="3366608"/>
            <a:ext cx="3840480" cy="310896"/>
          </a:xfrm>
          <a:prstGeom prst="rect">
            <a:avLst/>
          </a:prstGeom>
          <a:noFill/>
          <a:ln/>
        </p:spPr>
        <p:txBody>
          <a:bodyPr wrap="square" rtlCol="0" anchor="ctr"/>
          <a:lstStyle/>
          <a:p>
            <a:pPr marL="0" indent="0">
              <a:buNone/>
            </a:pPr>
            <a:endParaRPr lang="en-US" sz="1600" dirty="0">
              <a:latin typeface="Lato" panose="020F0502020204030203" pitchFamily="34" charset="0"/>
              <a:cs typeface="Arial" panose="020B0604020202020204" pitchFamily="34" charset="0"/>
            </a:endParaRPr>
          </a:p>
        </p:txBody>
      </p:sp>
      <p:sp>
        <p:nvSpPr>
          <p:cNvPr id="20" name="Text 18"/>
          <p:cNvSpPr/>
          <p:nvPr/>
        </p:nvSpPr>
        <p:spPr>
          <a:xfrm>
            <a:off x="5003364" y="4142425"/>
            <a:ext cx="3840480" cy="310896"/>
          </a:xfrm>
          <a:prstGeom prst="rect">
            <a:avLst/>
          </a:prstGeom>
          <a:noFill/>
          <a:ln/>
        </p:spPr>
        <p:txBody>
          <a:bodyPr wrap="square" rtlCol="0" anchor="ctr"/>
          <a:lstStyle/>
          <a:p>
            <a:pPr marL="0" indent="0">
              <a:buNone/>
            </a:pPr>
            <a:endParaRPr lang="en-US" sz="1600" dirty="0">
              <a:latin typeface="Lato" panose="020F0502020204030203" pitchFamily="34" charset="0"/>
              <a:cs typeface="Arial" panose="020B0604020202020204" pitchFamily="34" charset="0"/>
            </a:endParaRPr>
          </a:p>
        </p:txBody>
      </p:sp>
      <p:sp>
        <p:nvSpPr>
          <p:cNvPr id="3" name="TextBox 2">
            <a:extLst>
              <a:ext uri="{FF2B5EF4-FFF2-40B4-BE49-F238E27FC236}">
                <a16:creationId xmlns:a16="http://schemas.microsoft.com/office/drawing/2014/main" id="{43E83C94-3F07-E25F-541E-ECCA34C12270}"/>
              </a:ext>
            </a:extLst>
          </p:cNvPr>
          <p:cNvSpPr txBox="1"/>
          <p:nvPr/>
        </p:nvSpPr>
        <p:spPr>
          <a:xfrm>
            <a:off x="0" y="1632451"/>
            <a:ext cx="4519472" cy="2492990"/>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file with 500 rows of date, company ID, industry, revenue, </a:t>
            </a:r>
            <a:r>
              <a:rPr lang="en-IN" sz="1600" dirty="0" err="1">
                <a:latin typeface="Times New Roman" panose="02020603050405020304" pitchFamily="18" charset="0"/>
                <a:cs typeface="Times New Roman" panose="02020603050405020304" pitchFamily="18" charset="0"/>
              </a:rPr>
              <a:t>operational,cost,profit</a:t>
            </a:r>
            <a:r>
              <a:rPr lang="en-IN" sz="1600" dirty="0">
                <a:latin typeface="Times New Roman" panose="02020603050405020304" pitchFamily="18" charset="0"/>
                <a:cs typeface="Times New Roman" panose="02020603050405020304" pitchFamily="18" charset="0"/>
              </a:rPr>
              <a:t>, market growth, customer </a:t>
            </a:r>
            <a:r>
              <a:rPr lang="en-IN" sz="1600" dirty="0" err="1">
                <a:latin typeface="Times New Roman" panose="02020603050405020304" pitchFamily="18" charset="0"/>
                <a:cs typeface="Times New Roman" panose="02020603050405020304" pitchFamily="18" charset="0"/>
              </a:rPr>
              <a:t>satisafaction</a:t>
            </a:r>
            <a:r>
              <a:rPr lang="en-IN" sz="1600" dirty="0">
                <a:latin typeface="Times New Roman" panose="02020603050405020304" pitchFamily="18" charset="0"/>
                <a:cs typeface="Times New Roman" panose="02020603050405020304" pitchFamily="18" charset="0"/>
              </a:rPr>
              <a:t>, employee productivity, risk level, investment in AI, AI recommendation, decision taken , decision outcome, CEO override, region.</a:t>
            </a:r>
          </a:p>
          <a:p>
            <a:pPr marL="285750" indent="-285750">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data is collected from retail or business transactions and then cleaned and organized using Microsoft Excel to ensure accuracy</a:t>
            </a:r>
            <a:r>
              <a:rPr lang="en-US" dirty="0"/>
              <a:t>.</a:t>
            </a:r>
            <a:endParaRPr lang="en-IN" dirty="0"/>
          </a:p>
        </p:txBody>
      </p:sp>
      <p:sp>
        <p:nvSpPr>
          <p:cNvPr id="22" name="TextBox 21">
            <a:extLst>
              <a:ext uri="{FF2B5EF4-FFF2-40B4-BE49-F238E27FC236}">
                <a16:creationId xmlns:a16="http://schemas.microsoft.com/office/drawing/2014/main" id="{EA699EB9-D5B4-EC4D-A049-FFF2D4807289}"/>
              </a:ext>
            </a:extLst>
          </p:cNvPr>
          <p:cNvSpPr txBox="1"/>
          <p:nvPr/>
        </p:nvSpPr>
        <p:spPr>
          <a:xfrm>
            <a:off x="4385019" y="1632451"/>
            <a:ext cx="4432133" cy="2462213"/>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involves cleaning and organizing raw business data such as sales, customer behavior, and inventory using Microsoft Excel to remove errors and ensure accuracy. </a:t>
            </a:r>
          </a:p>
          <a:p>
            <a:pPr marL="285750" indent="-285750">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processed data is then analyzed to identify patterns like high-demand products, customer buying trends, and stock performance, which helps understand business strengths and weaknesses. </a:t>
            </a:r>
            <a:endParaRPr lang="en-IN" sz="16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343"/>
    </mc:Choice>
    <mc:Fallback xmlns="">
      <p:transition spd="slow" advTm="234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2">
            <a:extLst>
              <a:ext uri="{FF2B5EF4-FFF2-40B4-BE49-F238E27FC236}">
                <a16:creationId xmlns:a16="http://schemas.microsoft.com/office/drawing/2014/main" id="{13C0A6B9-310B-70C5-AD61-A51D4DF3D054}"/>
              </a:ext>
            </a:extLst>
          </p:cNvPr>
          <p:cNvSpPr/>
          <p:nvPr/>
        </p:nvSpPr>
        <p:spPr>
          <a:xfrm>
            <a:off x="212746" y="979364"/>
            <a:ext cx="4114800" cy="384048"/>
          </a:xfrm>
          <a:prstGeom prst="rect">
            <a:avLst/>
          </a:prstGeom>
          <a:solidFill>
            <a:schemeClr val="accent1">
              <a:lumMod val="20000"/>
              <a:lumOff val="80000"/>
            </a:schemeClr>
          </a:solidFill>
          <a:ln/>
        </p:spPr>
        <p:txBody>
          <a:bodyPr/>
          <a:lstStyle/>
          <a:p>
            <a:r>
              <a:rPr lang="en-US" b="1" dirty="0">
                <a:latin typeface="Lato" panose="020F0502020204030203" pitchFamily="34" charset="0"/>
                <a:ea typeface="Calibri" pitchFamily="34" charset="-122"/>
                <a:cs typeface="Arial" panose="020B0604020202020204" pitchFamily="34" charset="0"/>
              </a:rPr>
              <a:t>AI / Tool Integration</a:t>
            </a:r>
            <a:endParaRPr lang="en-US" dirty="0">
              <a:latin typeface="Lato" panose="020F0502020204030203" pitchFamily="34" charset="0"/>
              <a:cs typeface="Arial" panose="020B0604020202020204" pitchFamily="34" charset="0"/>
            </a:endParaRPr>
          </a:p>
        </p:txBody>
      </p:sp>
      <p:sp>
        <p:nvSpPr>
          <p:cNvPr id="3" name="Shape 13">
            <a:extLst>
              <a:ext uri="{FF2B5EF4-FFF2-40B4-BE49-F238E27FC236}">
                <a16:creationId xmlns:a16="http://schemas.microsoft.com/office/drawing/2014/main" id="{4C25E8A9-A206-13D7-6BED-5B7BDD7A1756}"/>
              </a:ext>
            </a:extLst>
          </p:cNvPr>
          <p:cNvSpPr/>
          <p:nvPr/>
        </p:nvSpPr>
        <p:spPr>
          <a:xfrm>
            <a:off x="4012753" y="979364"/>
            <a:ext cx="320040" cy="384048"/>
          </a:xfrm>
          <a:prstGeom prst="rect">
            <a:avLst/>
          </a:prstGeom>
          <a:solidFill>
            <a:srgbClr val="1B3A8A"/>
          </a:solidFill>
          <a:ln/>
        </p:spPr>
        <p:txBody>
          <a:bodyPr/>
          <a:lstStyle/>
          <a:p>
            <a:endParaRPr lang="en-IN" dirty="0">
              <a:latin typeface="Lato" panose="020F0502020204030203" pitchFamily="34" charset="0"/>
            </a:endParaRPr>
          </a:p>
        </p:txBody>
      </p:sp>
      <p:sp>
        <p:nvSpPr>
          <p:cNvPr id="5" name="Shape 12">
            <a:extLst>
              <a:ext uri="{FF2B5EF4-FFF2-40B4-BE49-F238E27FC236}">
                <a16:creationId xmlns:a16="http://schemas.microsoft.com/office/drawing/2014/main" id="{64A470B5-5A96-AB17-C170-8A422B815D89}"/>
              </a:ext>
            </a:extLst>
          </p:cNvPr>
          <p:cNvSpPr/>
          <p:nvPr/>
        </p:nvSpPr>
        <p:spPr>
          <a:xfrm>
            <a:off x="4642339" y="979364"/>
            <a:ext cx="4114800" cy="384048"/>
          </a:xfrm>
          <a:prstGeom prst="rect">
            <a:avLst/>
          </a:prstGeom>
          <a:solidFill>
            <a:schemeClr val="accent1">
              <a:lumMod val="20000"/>
              <a:lumOff val="80000"/>
            </a:schemeClr>
          </a:solidFill>
          <a:ln/>
        </p:spPr>
        <p:txBody>
          <a:bodyPr/>
          <a:lstStyle/>
          <a:p>
            <a:r>
              <a:rPr lang="en-US" b="1" dirty="0">
                <a:latin typeface="Lato" panose="020F0502020204030203" pitchFamily="34" charset="0"/>
                <a:ea typeface="Calibri" pitchFamily="34" charset="-122"/>
                <a:cs typeface="Arial" panose="020B0604020202020204" pitchFamily="34" charset="0"/>
              </a:rPr>
              <a:t>Output / Dashboard</a:t>
            </a:r>
            <a:endParaRPr lang="en-US" dirty="0">
              <a:latin typeface="Lato" panose="020F0502020204030203" pitchFamily="34" charset="0"/>
              <a:cs typeface="Arial" panose="020B0604020202020204" pitchFamily="34" charset="0"/>
            </a:endParaRPr>
          </a:p>
        </p:txBody>
      </p:sp>
      <p:sp>
        <p:nvSpPr>
          <p:cNvPr id="7" name="Shape 13">
            <a:extLst>
              <a:ext uri="{FF2B5EF4-FFF2-40B4-BE49-F238E27FC236}">
                <a16:creationId xmlns:a16="http://schemas.microsoft.com/office/drawing/2014/main" id="{BB814920-623F-9295-8B06-BEE63DAAA291}"/>
              </a:ext>
            </a:extLst>
          </p:cNvPr>
          <p:cNvSpPr/>
          <p:nvPr/>
        </p:nvSpPr>
        <p:spPr>
          <a:xfrm>
            <a:off x="8437099" y="981982"/>
            <a:ext cx="320040" cy="384048"/>
          </a:xfrm>
          <a:prstGeom prst="rect">
            <a:avLst/>
          </a:prstGeom>
          <a:solidFill>
            <a:srgbClr val="1B3A8A"/>
          </a:solidFill>
          <a:ln/>
        </p:spPr>
        <p:txBody>
          <a:bodyPr/>
          <a:lstStyle/>
          <a:p>
            <a:endParaRPr lang="en-IN" dirty="0">
              <a:latin typeface="Lato" panose="020F0502020204030203" pitchFamily="34" charset="0"/>
            </a:endParaRPr>
          </a:p>
        </p:txBody>
      </p:sp>
      <p:sp>
        <p:nvSpPr>
          <p:cNvPr id="9" name="TextBox 8">
            <a:extLst>
              <a:ext uri="{FF2B5EF4-FFF2-40B4-BE49-F238E27FC236}">
                <a16:creationId xmlns:a16="http://schemas.microsoft.com/office/drawing/2014/main" id="{DAC47515-8738-3641-9D74-3AD9EF1D8608}"/>
              </a:ext>
            </a:extLst>
          </p:cNvPr>
          <p:cNvSpPr txBox="1"/>
          <p:nvPr/>
        </p:nvSpPr>
        <p:spPr>
          <a:xfrm>
            <a:off x="0" y="1366030"/>
            <a:ext cx="4572000" cy="3200876"/>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focuses on combining multiple technologies to create smarter business decision-making. Business data such as sales, customer behavior, and inventory is first managed and prepared using Microsoft Excel, and then transformed into interactive dashboards through Power BI for clear visualization of business performance. </a:t>
            </a:r>
          </a:p>
          <a:p>
            <a:pPr marL="285750" indent="-285750">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 tools like ChatGPT are integrated to analyze patterns, generate insights, and suggest strategic. This integration helps create an intelligent system that acts like a CEO by supporting faster, data-driven, and accurate business decisions.</a:t>
            </a:r>
            <a:endParaRPr lang="en-IN" sz="16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3F59E92-374E-889B-92D6-EFE9E2B9B10D}"/>
              </a:ext>
            </a:extLst>
          </p:cNvPr>
          <p:cNvSpPr txBox="1"/>
          <p:nvPr/>
        </p:nvSpPr>
        <p:spPr>
          <a:xfrm>
            <a:off x="4492842" y="1287193"/>
            <a:ext cx="4651158" cy="3939540"/>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interactive business intelligence system that clearly presents key insights from sales, customer behavior, and inventory data in an easy-to-understand visual format. Using Power BI, the dashboard displays important metrics such as top-selling products, profit trends, demand forecasting, and stock levels to help identify business performance patterns in real time. </a:t>
            </a:r>
          </a:p>
          <a:p>
            <a:pPr marL="285750" indent="-285750">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insights generated through ChatGPT and processed data from Microsoft Excel help convert complex data into simple recommendations, while GitHub Copilot supports automation behind the system. This output enables business owners to make quick, accurate, and data-driven decisions just like a CEO.</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1121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pic>
        <p:nvPicPr>
          <p:cNvPr id="3" name="Picture 2">
            <a:extLst>
              <a:ext uri="{FF2B5EF4-FFF2-40B4-BE49-F238E27FC236}">
                <a16:creationId xmlns:a16="http://schemas.microsoft.com/office/drawing/2014/main" id="{D068CF90-F3FE-8409-7309-7DF5B42CE22A}"/>
              </a:ext>
            </a:extLst>
          </p:cNvPr>
          <p:cNvPicPr>
            <a:picLocks noChangeAspect="1"/>
          </p:cNvPicPr>
          <p:nvPr/>
        </p:nvPicPr>
        <p:blipFill>
          <a:blip r:embed="rId4"/>
          <a:stretch>
            <a:fillRect/>
          </a:stretch>
        </p:blipFill>
        <p:spPr>
          <a:xfrm>
            <a:off x="396240" y="2777839"/>
            <a:ext cx="2590359" cy="2025991"/>
          </a:xfrm>
          <a:prstGeom prst="rect">
            <a:avLst/>
          </a:prstGeom>
        </p:spPr>
      </p:pic>
      <p:pic>
        <p:nvPicPr>
          <p:cNvPr id="5" name="Picture 4">
            <a:extLst>
              <a:ext uri="{FF2B5EF4-FFF2-40B4-BE49-F238E27FC236}">
                <a16:creationId xmlns:a16="http://schemas.microsoft.com/office/drawing/2014/main" id="{BCD5FDE5-300F-8F1F-81BF-654894FF2A58}"/>
              </a:ext>
            </a:extLst>
          </p:cNvPr>
          <p:cNvPicPr>
            <a:picLocks noChangeAspect="1"/>
          </p:cNvPicPr>
          <p:nvPr/>
        </p:nvPicPr>
        <p:blipFill>
          <a:blip r:embed="rId5"/>
          <a:stretch>
            <a:fillRect/>
          </a:stretch>
        </p:blipFill>
        <p:spPr>
          <a:xfrm>
            <a:off x="3335609" y="2825282"/>
            <a:ext cx="2555078" cy="1710920"/>
          </a:xfrm>
          <a:prstGeom prst="rect">
            <a:avLst/>
          </a:prstGeom>
        </p:spPr>
      </p:pic>
      <p:pic>
        <p:nvPicPr>
          <p:cNvPr id="8" name="Picture 7">
            <a:extLst>
              <a:ext uri="{FF2B5EF4-FFF2-40B4-BE49-F238E27FC236}">
                <a16:creationId xmlns:a16="http://schemas.microsoft.com/office/drawing/2014/main" id="{3ADEF251-D41B-CBE2-A176-B08AB66368AB}"/>
              </a:ext>
            </a:extLst>
          </p:cNvPr>
          <p:cNvPicPr>
            <a:picLocks noChangeAspect="1"/>
          </p:cNvPicPr>
          <p:nvPr/>
        </p:nvPicPr>
        <p:blipFill>
          <a:blip r:embed="rId6"/>
          <a:stretch>
            <a:fillRect/>
          </a:stretch>
        </p:blipFill>
        <p:spPr>
          <a:xfrm>
            <a:off x="6261581" y="2919838"/>
            <a:ext cx="2514600" cy="161636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42"/>
    </mc:Choice>
    <mc:Fallback xmlns="">
      <p:transition spd="slow" advTm="164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dirty="0"/>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57532" y="777240"/>
            <a:ext cx="5029200" cy="201168"/>
          </a:xfrm>
          <a:prstGeom prst="rect">
            <a:avLst/>
          </a:prstGeom>
          <a:solidFill>
            <a:srgbClr val="FFFFFF"/>
          </a:solidFill>
          <a:ln w="6350">
            <a:solidFill>
              <a:srgbClr val="CCCCCC"/>
            </a:solidFill>
            <a:prstDash val="solid"/>
          </a:ln>
        </p:spPr>
        <p:txBody>
          <a:bodyPr/>
          <a:lstStyle/>
          <a:p>
            <a:endParaRPr lang="en-IN" dirty="0"/>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70"/>
    </mc:Choice>
    <mc:Fallback xmlns="">
      <p:transition spd="slow" advTm="117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
        <p:nvSpPr>
          <p:cNvPr id="3" name="TextBox 2">
            <a:extLst>
              <a:ext uri="{FF2B5EF4-FFF2-40B4-BE49-F238E27FC236}">
                <a16:creationId xmlns:a16="http://schemas.microsoft.com/office/drawing/2014/main" id="{45722B35-4D9A-3EED-363F-676D72D85B55}"/>
              </a:ext>
            </a:extLst>
          </p:cNvPr>
          <p:cNvSpPr txBox="1"/>
          <p:nvPr/>
        </p:nvSpPr>
        <p:spPr>
          <a:xfrm>
            <a:off x="151584" y="424905"/>
            <a:ext cx="4572000" cy="4585871"/>
          </a:xfrm>
          <a:prstGeom prst="rect">
            <a:avLst/>
          </a:prstGeom>
          <a:noFill/>
        </p:spPr>
        <p:txBody>
          <a:bodyPr wrap="square">
            <a:spAutoFit/>
          </a:bodyPr>
          <a:lstStyle/>
          <a:p>
            <a:pPr>
              <a:buNone/>
            </a:pPr>
            <a:br>
              <a:rPr lang="en-US" dirty="0"/>
            </a:br>
            <a:endParaRPr lang="en-US" dirty="0"/>
          </a:p>
          <a:p>
            <a:pPr marL="285750" indent="-285750" algn="just">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project demonstrates how the integration of data analytics, artificial intelligence, and business intelligence tools can transform traditional decision-making into a smart, automated, and strategic process.</a:t>
            </a:r>
          </a:p>
          <a:p>
            <a:pPr marL="285750" indent="-285750" algn="just">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By combining tools like Excel, Power </a:t>
            </a:r>
            <a:r>
              <a:rPr lang="en-US" sz="1600" dirty="0" err="1">
                <a:latin typeface="Times New Roman" panose="02020603050405020304" pitchFamily="18" charset="0"/>
                <a:cs typeface="Times New Roman" panose="02020603050405020304" pitchFamily="18" charset="0"/>
              </a:rPr>
              <a:t>BI,the</a:t>
            </a:r>
            <a:r>
              <a:rPr lang="en-US" sz="1600" dirty="0">
                <a:latin typeface="Times New Roman" panose="02020603050405020304" pitchFamily="18" charset="0"/>
                <a:cs typeface="Times New Roman" panose="02020603050405020304" pitchFamily="18" charset="0"/>
              </a:rPr>
              <a:t> system successfully converts raw data into meaningful insights, enabling organizations to make data-driven decisions similar to a CEO’s thinking process.</a:t>
            </a:r>
          </a:p>
          <a:p>
            <a:pPr marL="285750" indent="-285750" algn="just">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 does not replace a CEO—it enhances decision-making by providing faster, smarter, and more data-driven insights.</a:t>
            </a:r>
          </a:p>
          <a:p>
            <a:pPr>
              <a:buNone/>
            </a:pPr>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560"/>
    </mc:Choice>
    <mc:Fallback xmlns="">
      <p:transition spd="slow" advTm="156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algn="just">
              <a:lnSpc>
                <a:spcPct val="150000"/>
              </a:lnSpc>
              <a:spcBef>
                <a:spcPts val="600"/>
              </a:spcBef>
              <a:spcAft>
                <a:spcPts val="600"/>
              </a:spcAft>
            </a:pPr>
            <a:r>
              <a:rPr lang="en-US" sz="1600" dirty="0">
                <a:latin typeface="Times New Roman" panose="02020603050405020304" pitchFamily="18" charset="0"/>
                <a:cs typeface="Times New Roman" panose="02020603050405020304" pitchFamily="18" charset="0"/>
              </a:rPr>
              <a:t> </a:t>
            </a:r>
          </a:p>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
        <p:nvSpPr>
          <p:cNvPr id="5" name="TextBox 4">
            <a:extLst>
              <a:ext uri="{FF2B5EF4-FFF2-40B4-BE49-F238E27FC236}">
                <a16:creationId xmlns:a16="http://schemas.microsoft.com/office/drawing/2014/main" id="{FACD8C84-FFD6-7121-A3AD-FE1905C34AB5}"/>
              </a:ext>
            </a:extLst>
          </p:cNvPr>
          <p:cNvSpPr txBox="1"/>
          <p:nvPr/>
        </p:nvSpPr>
        <p:spPr>
          <a:xfrm>
            <a:off x="59635" y="1085541"/>
            <a:ext cx="4572000" cy="3833742"/>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Advanced AI &amp; Deep Learning Integration </a:t>
            </a:r>
          </a:p>
          <a:p>
            <a:pPr marL="285750" indent="-285750">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 the future, AI will not just assist CEOs—it will act as a strategic partner, transforming organizations into intelligent, self-driven enterprises.”</a:t>
            </a:r>
          </a:p>
          <a:p>
            <a:pPr marL="285750" indent="-285750" algn="just">
              <a:spcBef>
                <a:spcPts val="600"/>
              </a:spcBef>
              <a:spcAft>
                <a:spcPts val="6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can be enhanced with advanced AI models to perform predictive analytics, demand forecasting, and risk analysis for different industries such as retail, manufacturing, and finance. Integration with live business databases and cloud platforms will allow real-time data processing and smarter automation.</a:t>
            </a:r>
            <a:endParaRPr lang="en-IN" sz="1600" dirty="0">
              <a:latin typeface="Times New Roman" panose="02020603050405020304" pitchFamily="18" charset="0"/>
              <a:cs typeface="Times New Roman" panose="02020603050405020304" pitchFamily="18" charset="0"/>
            </a:endParaRPr>
          </a:p>
          <a:p>
            <a:pPr algn="just">
              <a:lnSpc>
                <a:spcPct val="150000"/>
              </a:lnSpc>
              <a:spcBef>
                <a:spcPts val="600"/>
              </a:spcBef>
              <a:spcAft>
                <a:spcPts val="600"/>
              </a:spcAft>
              <a:buNone/>
            </a:pPr>
            <a:endParaRPr lang="en-US" sz="16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59"/>
    </mc:Choice>
    <mc:Fallback xmlns="">
      <p:transition spd="slow" advTm="185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46"/>
    </mc:Choice>
    <mc:Fallback xmlns="">
      <p:transition spd="slow" advTm="2746"/>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2847</TotalTime>
  <Words>1140</Words>
  <Application>Microsoft Office PowerPoint</Application>
  <PresentationFormat>On-screen Show (16:9)</PresentationFormat>
  <Paragraphs>80</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yarupanee@outlook.com</cp:lastModifiedBy>
  <cp:revision>36</cp:revision>
  <dcterms:created xsi:type="dcterms:W3CDTF">2026-02-18T09:17:23Z</dcterms:created>
  <dcterms:modified xsi:type="dcterms:W3CDTF">2026-04-14T11:51:02Z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